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B9F55B"/>
                </a:solidFill>
                <a:latin typeface="Aptos"/>
              </a:defRPr>
            </a:pPr>
            <a:r>
              <a:t>LAYERCAKE   /   STUDENT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0" b="1">
                <a:solidFill>
                  <a:srgbClr val="F3F4EB"/>
                </a:solidFill>
                <a:latin typeface="Aptos Display"/>
              </a:defRPr>
            </a:pPr>
            <a:r>
              <a:t>ONE MODEL. THREE DEVICES.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A6B19D"/>
                </a:solidFill>
                <a:latin typeface="Aptos"/>
              </a:defRPr>
            </a:pPr>
            <a:r>
              <a:t>HACKOHIO 2026     •     01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96926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0">
                <a:solidFill>
                  <a:srgbClr val="F3F4EB"/>
                </a:solidFill>
                <a:latin typeface="Aptos"/>
              </a:defRPr>
            </a:pPr>
            <a:r>
              <a:t>What if a group of devices could combine memory and compute to run one language model?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31920"/>
            <a:ext cx="2926080" cy="749808"/>
          </a:xfrm>
          <a:prstGeom prst="rect">
            <a:avLst/>
          </a:prstGeom>
          <a:solidFill>
            <a:srgbClr val="B9F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931920"/>
            <a:ext cx="2926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100D"/>
                </a:solidFill>
                <a:latin typeface="Aptos"/>
              </a:defRPr>
            </a:pPr>
            <a:r>
              <a:t>MAC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3931920"/>
            <a:ext cx="2926080" cy="749808"/>
          </a:xfrm>
          <a:prstGeom prst="rect">
            <a:avLst/>
          </a:prstGeom>
          <a:solidFill>
            <a:srgbClr val="F2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3931920"/>
            <a:ext cx="2926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100D"/>
                </a:solidFill>
                <a:latin typeface="Aptos"/>
              </a:defRPr>
            </a:pPr>
            <a:r>
              <a:t>IPAD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3931920"/>
            <a:ext cx="2926080" cy="749808"/>
          </a:xfrm>
          <a:prstGeom prst="rect">
            <a:avLst/>
          </a:prstGeom>
          <a:solidFill>
            <a:srgbClr val="7C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3931920"/>
            <a:ext cx="2926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100D"/>
                </a:solidFill>
                <a:latin typeface="Aptos"/>
              </a:defRPr>
            </a:pPr>
            <a:r>
              <a:t>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6636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0">
                <a:solidFill>
                  <a:srgbClr val="A6B19D"/>
                </a:solidFill>
                <a:latin typeface="Aptos"/>
              </a:defRPr>
            </a:pPr>
            <a:r>
              <a:t>Layercake splits model layers across a peer-to-peer mesh.</a:t>
            </a:r>
          </a:p>
        </p:txBody>
      </p:sp>
    </p:spTree>
  </p:cSld>
  <p:clrMapOvr>
    <a:masterClrMapping/>
  </p:clrMapOvr>
  <p:transition advClick="0" advTm="30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B9F55B"/>
                </a:solidFill>
                <a:latin typeface="Aptos"/>
              </a:defRPr>
            </a:pPr>
            <a:r>
              <a:t>LAYERCAKE   /   STUDENT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0" b="1">
                <a:solidFill>
                  <a:srgbClr val="F3F4EB"/>
                </a:solidFill>
                <a:latin typeface="Aptos Display"/>
              </a:defRPr>
            </a:pPr>
            <a:r>
              <a:t>THE BOTTLENECK IS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A6B19D"/>
                </a:solidFill>
                <a:latin typeface="Aptos"/>
              </a:defRPr>
            </a:pPr>
            <a:r>
              <a:t>HACKOHIO 2026     •     02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0">
                <a:solidFill>
                  <a:srgbClr val="F3F4EB"/>
                </a:solidFill>
                <a:latin typeface="Aptos"/>
              </a:defRPr>
            </a:pPr>
            <a:r>
              <a:t>Large models can demand more memory than a team wants to dedicate to one device. Layercake assigns contiguous layer ranges to separate peers; each device loads only its slice.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931920"/>
            <a:ext cx="9875520" cy="960120"/>
          </a:xfrm>
          <a:prstGeom prst="rect">
            <a:avLst/>
          </a:prstGeom>
          <a:solidFill>
            <a:srgbClr val="17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050791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B9F55B"/>
                </a:solidFill>
                <a:latin typeface="Aptos"/>
              </a:defRPr>
            </a:pPr>
            <a:r>
              <a:t>0–27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34840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F3F4EB"/>
                </a:solidFill>
                <a:latin typeface="Aptos"/>
              </a:defRPr>
            </a:pPr>
            <a:r>
              <a:t>M2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4050791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2A66A"/>
                </a:solidFill>
                <a:latin typeface="Aptos"/>
              </a:defRPr>
            </a:pPr>
            <a:r>
              <a:t>28–31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4434840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F3F4EB"/>
                </a:solidFill>
                <a:latin typeface="Aptos"/>
              </a:defRPr>
            </a:pPr>
            <a:r>
              <a:t>M4 iPad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4050791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7CB9E8"/>
                </a:solidFill>
                <a:latin typeface="Aptos"/>
              </a:defRPr>
            </a:pPr>
            <a:r>
              <a:t>32–63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0104" y="4434840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F3F4EB"/>
                </a:solidFill>
                <a:latin typeface="Aptos"/>
              </a:defRPr>
            </a:pPr>
            <a:r>
              <a:t>RTX 5060 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94960"/>
            <a:ext cx="10058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B9F55B"/>
                </a:solidFill>
                <a:latin typeface="Aptos"/>
              </a:defRPr>
            </a:pPr>
            <a:r>
              <a:t>One model, partitioned by the work each peer contributes.</a:t>
            </a:r>
          </a:p>
        </p:txBody>
      </p:sp>
    </p:spTree>
  </p:cSld>
  <p:clrMapOvr>
    <a:masterClrMapping/>
  </p:clrMapOvr>
  <p:transition advClick="0" advTm="28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B9F55B"/>
                </a:solidFill>
                <a:latin typeface="Aptos"/>
              </a:defRPr>
            </a:pPr>
            <a:r>
              <a:t>LAYERCAKE   /   STUDENT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0" b="1">
                <a:solidFill>
                  <a:srgbClr val="F3F4EB"/>
                </a:solidFill>
                <a:latin typeface="Aptos Display"/>
              </a:defRPr>
            </a:pPr>
            <a:r>
              <a:t>PROMPT IN. ACTIVATIONS ACROSS.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A6B19D"/>
                </a:solidFill>
                <a:latin typeface="Aptos"/>
              </a:defRPr>
            </a:pPr>
            <a:r>
              <a:t>HACKOHIO 2026     •     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424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F3F4EB"/>
                </a:solidFill>
                <a:latin typeface="Aptos"/>
              </a:defRPr>
            </a:pPr>
            <a:r>
              <a:t>1   Enter a prompt on the coordinator.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2"/>
            <a:ext cx="10424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F3F4EB"/>
                </a:solidFill>
                <a:latin typeface="Aptos"/>
              </a:defRPr>
            </a:pPr>
            <a:r>
              <a:t>2   Each device computes its assigned layers.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72384"/>
            <a:ext cx="10424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F3F4EB"/>
                </a:solidFill>
                <a:latin typeface="Aptos"/>
              </a:defRPr>
            </a:pPr>
            <a:r>
              <a:t>3   Hidden states move peer-to-peer; the final stage selects the next token.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94176"/>
            <a:ext cx="10424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F3F4EB"/>
                </a:solidFill>
                <a:latin typeface="Aptos"/>
              </a:defRPr>
            </a:pPr>
            <a:r>
              <a:t>4   Repeat until the response is complete.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709160"/>
            <a:ext cx="10058400" cy="822960"/>
          </a:xfrm>
          <a:prstGeom prst="rect">
            <a:avLst/>
          </a:prstGeom>
          <a:solidFill>
            <a:srgbClr val="17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709160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B9F55B"/>
                </a:solidFill>
                <a:latin typeface="Aptos"/>
              </a:defRPr>
            </a:pPr>
            <a:r>
              <a:t>COORDINATOR   →   MAC   →   IPAD   →   RTX   →   NEXT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05856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A6B19D"/>
                </a:solidFill>
                <a:latin typeface="Aptos"/>
              </a:defRPr>
            </a:pPr>
            <a:r>
              <a:t>Browser chat + live execution view   •   Iroh encrypted QUIC peer links</a:t>
            </a:r>
          </a:p>
        </p:txBody>
      </p:sp>
    </p:spTree>
  </p:cSld>
  <p:clrMapOvr>
    <a:masterClrMapping/>
  </p:clrMapOvr>
  <p:transition advClick="0" advTm="32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B9F55B"/>
                </a:solidFill>
                <a:latin typeface="Aptos"/>
              </a:defRPr>
            </a:pPr>
            <a:r>
              <a:t>LAYERCAKE   /   STUDENT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0" b="1">
                <a:solidFill>
                  <a:srgbClr val="F3F4EB"/>
                </a:solidFill>
                <a:latin typeface="Aptos Display"/>
              </a:defRPr>
            </a:pPr>
            <a:r>
              <a:t>WE RAN IT ON REAL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A6B19D"/>
                </a:solidFill>
                <a:latin typeface="Aptos"/>
              </a:defRPr>
            </a:pPr>
            <a:r>
              <a:t>HACKOHIO 2026     •     04 / 06</a:t>
            </a:r>
          </a:p>
        </p:txBody>
      </p:sp>
      <p:pic>
        <p:nvPicPr>
          <p:cNvPr id="5" name="Picture 4" descr="layercake_dem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64208"/>
            <a:ext cx="5486400" cy="4462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6520" y="1783080"/>
            <a:ext cx="4983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B9F55B"/>
                </a:solidFill>
                <a:latin typeface="Aptos"/>
              </a:defRPr>
            </a:pPr>
            <a:r>
              <a:t>QWEN3.8-27B  /  64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560320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B9F55B"/>
                </a:solidFill>
                <a:latin typeface="Aptos"/>
              </a:defRPr>
            </a:pPr>
            <a:r>
              <a:t>M2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852927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F3F4EB"/>
                </a:solidFill>
                <a:latin typeface="Aptos"/>
              </a:defRPr>
            </a:pPr>
            <a:r>
              <a:t>Layers 0–27  • 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474720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2A66A"/>
                </a:solidFill>
                <a:latin typeface="Aptos"/>
              </a:defRPr>
            </a:pPr>
            <a:r>
              <a:t>M4 IPAD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767328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F3F4EB"/>
                </a:solidFill>
                <a:latin typeface="Aptos"/>
              </a:defRPr>
            </a:pPr>
            <a:r>
              <a:t>Layers 28–31  •  Metal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389120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7CB9E8"/>
                </a:solidFill>
                <a:latin typeface="Aptos"/>
              </a:defRPr>
            </a:pPr>
            <a:r>
              <a:t>RTX 5060 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681728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F3F4EB"/>
                </a:solidFill>
                <a:latin typeface="Aptos"/>
              </a:defRPr>
            </a:pPr>
            <a:r>
              <a:t>Layers 32–63  •  CUDA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5303520"/>
            <a:ext cx="4709160" cy="749808"/>
          </a:xfrm>
          <a:prstGeom prst="rect">
            <a:avLst/>
          </a:prstGeom>
          <a:solidFill>
            <a:srgbClr val="17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5349240"/>
            <a:ext cx="4389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3F4EB"/>
                </a:solidFill>
                <a:latin typeface="Aptos"/>
              </a:defRPr>
            </a:pPr>
            <a:r>
              <a:t>43 output steps  •  3.603 decode steps/s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6144768"/>
            <a:ext cx="4572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A6B19D"/>
                </a:solidFill>
                <a:latin typeface="Aptos"/>
              </a:defRPr>
            </a:pPr>
            <a:r>
              <a:t>Observed in this fixed validation run.</a:t>
            </a:r>
          </a:p>
        </p:txBody>
      </p:sp>
    </p:spTree>
  </p:cSld>
  <p:clrMapOvr>
    <a:masterClrMapping/>
  </p:clrMapOvr>
  <p:transition advClick="0" advTm="32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B9F55B"/>
                </a:solidFill>
                <a:latin typeface="Aptos"/>
              </a:defRPr>
            </a:pPr>
            <a:r>
              <a:t>LAYERCAKE   /   STUDENT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0" b="1">
                <a:solidFill>
                  <a:srgbClr val="F3F4EB"/>
                </a:solidFill>
                <a:latin typeface="Aptos Display"/>
              </a:defRPr>
            </a:pPr>
            <a:r>
              <a:t>THE ENGINEERING IS IN THE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A6B19D"/>
                </a:solidFill>
                <a:latin typeface="Aptos"/>
              </a:defRPr>
            </a:pPr>
            <a:r>
              <a:t>HACKOHIO 2026     •     05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69848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F3F4EB"/>
                </a:solidFill>
                <a:latin typeface="Aptos"/>
              </a:defRPr>
            </a:pPr>
            <a:r>
              <a:t>Rust coordinates mesh membership and task flow. Native Metal and CUDA workers execute layer ranges. Iroh provides peer discovery, encrypted QUIC connections, and relay paths.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3063240" cy="1143000"/>
          </a:xfrm>
          <a:prstGeom prst="rect">
            <a:avLst/>
          </a:prstGeom>
          <a:solidFill>
            <a:srgbClr val="17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169663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B9F5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18304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F3F4EB"/>
                </a:solidFill>
                <a:latin typeface="Aptos"/>
              </a:defRPr>
            </a:pPr>
            <a:r>
              <a:t>physical platforms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4114800"/>
            <a:ext cx="3063240" cy="1143000"/>
          </a:xfrm>
          <a:prstGeom prst="rect">
            <a:avLst/>
          </a:prstGeom>
          <a:solidFill>
            <a:srgbClr val="17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4169663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F2A66A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718304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F3F4EB"/>
                </a:solidFill>
                <a:latin typeface="Aptos"/>
              </a:defRPr>
            </a:pPr>
            <a:r>
              <a:t>output 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4114800"/>
            <a:ext cx="3063240" cy="1143000"/>
          </a:xfrm>
          <a:prstGeom prst="rect">
            <a:avLst/>
          </a:prstGeom>
          <a:solidFill>
            <a:srgbClr val="17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4169663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7CB9E8"/>
                </a:solidFill>
                <a:latin typeface="Aptos"/>
              </a:defRPr>
            </a:pPr>
            <a:r>
              <a:t>3.603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718304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F3F4EB"/>
                </a:solidFill>
                <a:latin typeface="Aptos"/>
              </a:defRPr>
            </a:pPr>
            <a:r>
              <a:t>decode steps / second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23560"/>
            <a:ext cx="10607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A6B19D"/>
                </a:solidFill>
                <a:latin typeface="Aptos"/>
              </a:defRPr>
            </a:pPr>
            <a:r>
              <a:t>Measured result for this run; not a general performance benchmark.</a:t>
            </a:r>
          </a:p>
        </p:txBody>
      </p:sp>
    </p:spTree>
  </p:cSld>
  <p:clrMapOvr>
    <a:masterClrMapping/>
  </p:clrMapOvr>
  <p:transition advClick="0" advTm="30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B9F55B"/>
                </a:solidFill>
                <a:latin typeface="Aptos"/>
              </a:defRPr>
            </a:pPr>
            <a:r>
              <a:t>LAYERCAKE   /   STUDENT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0" b="1">
                <a:solidFill>
                  <a:srgbClr val="F3F4EB"/>
                </a:solidFill>
                <a:latin typeface="Aptos Display"/>
              </a:defRPr>
            </a:pPr>
            <a:r>
              <a:t>A NEW WAY TO THINK ABOUT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A6B19D"/>
                </a:solidFill>
                <a:latin typeface="Aptos"/>
              </a:defRPr>
            </a:pPr>
            <a:r>
              <a:t>HACKOHIO 2026     •     06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104241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0">
                <a:solidFill>
                  <a:srgbClr val="F3F4EB"/>
                </a:solidFill>
                <a:latin typeface="Aptos"/>
              </a:defRPr>
            </a:pPr>
            <a:r>
              <a:t>We built a working proof that several devices can execute contiguous parts of one model as a mesh, extending usable capacity.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A6B19D"/>
                </a:solidFill>
                <a:latin typeface="Aptos"/>
              </a:defRPr>
            </a:pPr>
            <a:r>
              <a:t>Next: automatic placement, faster transfers, and recovery when a peer disappears.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983480"/>
            <a:ext cx="10241280" cy="841248"/>
          </a:xfrm>
          <a:prstGeom prst="rect">
            <a:avLst/>
          </a:prstGeom>
          <a:solidFill>
            <a:srgbClr val="B9F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983480"/>
            <a:ext cx="102412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0A100D"/>
                </a:solidFill>
                <a:latin typeface="Aptos"/>
              </a:defRPr>
            </a:pPr>
            <a:r>
              <a:t>Layercake — make the mesh the machine.</a:t>
            </a:r>
          </a:p>
        </p:txBody>
      </p:sp>
    </p:spTree>
  </p:cSld>
  <p:clrMapOvr>
    <a:masterClrMapping/>
  </p:clrMapOvr>
  <p:transition advClick="0" advTm="28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Layercake — HackOHIO Judge Pitch</dc:title>
  <dc:subject>Three-minute student developer presentation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